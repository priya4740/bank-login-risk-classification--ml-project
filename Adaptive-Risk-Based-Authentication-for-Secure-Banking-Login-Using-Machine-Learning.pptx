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22" autoAdjust="0"/>
  </p:normalViewPr>
  <p:slideViewPr>
    <p:cSldViewPr>
      <p:cViewPr varScale="1">
        <p:scale>
          <a:sx n="47" d="100"/>
          <a:sy n="47" d="100"/>
        </p:scale>
        <p:origin x="51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M" userId="77dc5e22b4b796ac" providerId="LiveId" clId="{9D1259C8-59DB-4826-8FD1-C11807EE7467}"/>
    <pc:docChg chg="custSel modSld">
      <pc:chgData name="Priyanka M" userId="77dc5e22b4b796ac" providerId="LiveId" clId="{9D1259C8-59DB-4826-8FD1-C11807EE7467}" dt="2026-07-11T04:43:22.211" v="81" actId="14100"/>
      <pc:docMkLst>
        <pc:docMk/>
      </pc:docMkLst>
      <pc:sldChg chg="delSp modSp mod">
        <pc:chgData name="Priyanka M" userId="77dc5e22b4b796ac" providerId="LiveId" clId="{9D1259C8-59DB-4826-8FD1-C11807EE7467}" dt="2026-07-11T04:43:22.211" v="81" actId="14100"/>
        <pc:sldMkLst>
          <pc:docMk/>
          <pc:sldMk cId="0" sldId="256"/>
        </pc:sldMkLst>
        <pc:spChg chg="mod">
          <ac:chgData name="Priyanka M" userId="77dc5e22b4b796ac" providerId="LiveId" clId="{9D1259C8-59DB-4826-8FD1-C11807EE7467}" dt="2026-07-11T04:42:47.925" v="78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Priyanka M" userId="77dc5e22b4b796ac" providerId="LiveId" clId="{9D1259C8-59DB-4826-8FD1-C11807EE7467}" dt="2026-07-11T04:43:22.211" v="81" actId="14100"/>
          <ac:spMkLst>
            <pc:docMk/>
            <pc:sldMk cId="0" sldId="256"/>
            <ac:spMk id="17" creationId="{00000000-0000-0000-0000-000000000000}"/>
          </ac:spMkLst>
        </pc:spChg>
        <pc:grpChg chg="del">
          <ac:chgData name="Priyanka M" userId="77dc5e22b4b796ac" providerId="LiveId" clId="{9D1259C8-59DB-4826-8FD1-C11807EE7467}" dt="2026-07-11T04:42:51.535" v="79" actId="478"/>
          <ac:grpSpMkLst>
            <pc:docMk/>
            <pc:sldMk cId="0" sldId="256"/>
            <ac:grpSpMk id="4" creationId="{00000000-0000-0000-0000-000000000000}"/>
          </ac:grpSpMkLst>
        </pc:grpChg>
      </pc:sldChg>
      <pc:sldChg chg="modSp mod">
        <pc:chgData name="Priyanka M" userId="77dc5e22b4b796ac" providerId="LiveId" clId="{9D1259C8-59DB-4826-8FD1-C11807EE7467}" dt="2026-07-11T04:04:09.738" v="76" actId="1076"/>
        <pc:sldMkLst>
          <pc:docMk/>
          <pc:sldMk cId="0" sldId="260"/>
        </pc:sldMkLst>
        <pc:grpChg chg="mod">
          <ac:chgData name="Priyanka M" userId="77dc5e22b4b796ac" providerId="LiveId" clId="{9D1259C8-59DB-4826-8FD1-C11807EE7467}" dt="2026-07-11T04:04:09.738" v="76" actId="1076"/>
          <ac:grpSpMkLst>
            <pc:docMk/>
            <pc:sldMk cId="0" sldId="260"/>
            <ac:grpSpMk id="13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5590"/>
            <a:ext cx="18288000" cy="10287000"/>
            <a:chOff x="0" y="3412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3412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50238" y="2273798"/>
            <a:ext cx="2607316" cy="430711"/>
            <a:chOff x="0" y="0"/>
            <a:chExt cx="3476422" cy="5742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6371" cy="574294"/>
            </a:xfrm>
            <a:custGeom>
              <a:avLst/>
              <a:gdLst/>
              <a:ahLst/>
              <a:cxnLst/>
              <a:rect l="l" t="t" r="r" b="b"/>
              <a:pathLst>
                <a:path w="3476371" h="57429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49371" y="0"/>
                  </a:lnTo>
                  <a:cubicBezTo>
                    <a:pt x="3419475" y="0"/>
                    <a:pt x="3476371" y="56896"/>
                    <a:pt x="3476371" y="127000"/>
                  </a:cubicBezTo>
                  <a:lnTo>
                    <a:pt x="3476371" y="447294"/>
                  </a:lnTo>
                  <a:cubicBezTo>
                    <a:pt x="3476371" y="517398"/>
                    <a:pt x="3419475" y="574294"/>
                    <a:pt x="3349371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020345" y="2349256"/>
            <a:ext cx="3181502" cy="27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MACHINE LEARNING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594477" y="2269036"/>
            <a:ext cx="2276770" cy="440236"/>
            <a:chOff x="0" y="0"/>
            <a:chExt cx="3035694" cy="5869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35681" cy="586994"/>
            </a:xfrm>
            <a:custGeom>
              <a:avLst/>
              <a:gdLst/>
              <a:ahLst/>
              <a:cxnLst/>
              <a:rect l="l" t="t" r="r" b="b"/>
              <a:pathLst>
                <a:path w="3035681" h="586994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2905887" y="0"/>
                  </a:lnTo>
                  <a:cubicBezTo>
                    <a:pt x="2977642" y="0"/>
                    <a:pt x="3035681" y="58166"/>
                    <a:pt x="3035681" y="129794"/>
                  </a:cubicBezTo>
                  <a:lnTo>
                    <a:pt x="3035681" y="457200"/>
                  </a:lnTo>
                  <a:cubicBezTo>
                    <a:pt x="3035681" y="528955"/>
                    <a:pt x="2977515" y="586994"/>
                    <a:pt x="2905887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769" b="-50767"/>
              </a:stretch>
            </a:blipFill>
            <a:ln w="9526" cap="sq">
              <a:solidFill>
                <a:srgbClr val="5E4CE6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769356" y="2349256"/>
            <a:ext cx="2841422" cy="27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 dirty="0">
                <a:solidFill>
                  <a:srgbClr val="5E4CE6"/>
                </a:solidFill>
                <a:latin typeface="Arimo"/>
                <a:ea typeface="Arimo"/>
                <a:cs typeface="Arimo"/>
                <a:sym typeface="Arimo"/>
              </a:rPr>
              <a:t>CYBERSECURITY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003416" y="2269036"/>
            <a:ext cx="1369962" cy="440236"/>
            <a:chOff x="0" y="0"/>
            <a:chExt cx="1826616" cy="5869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26641" cy="586994"/>
            </a:xfrm>
            <a:custGeom>
              <a:avLst/>
              <a:gdLst/>
              <a:ahLst/>
              <a:cxnLst/>
              <a:rect l="l" t="t" r="r" b="b"/>
              <a:pathLst>
                <a:path w="1826641" h="586994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1696847" y="0"/>
                  </a:lnTo>
                  <a:cubicBezTo>
                    <a:pt x="1768602" y="0"/>
                    <a:pt x="1826641" y="58166"/>
                    <a:pt x="1826641" y="129794"/>
                  </a:cubicBezTo>
                  <a:lnTo>
                    <a:pt x="1826641" y="457200"/>
                  </a:lnTo>
                  <a:cubicBezTo>
                    <a:pt x="1826641" y="528955"/>
                    <a:pt x="1768475" y="586994"/>
                    <a:pt x="1696847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634" r="1" b="-10632"/>
              </a:stretch>
            </a:blipFill>
            <a:ln w="9526" cap="sq">
              <a:solidFill>
                <a:srgbClr val="5E4CE6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3178285" y="2349256"/>
            <a:ext cx="193461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 dirty="0">
                <a:solidFill>
                  <a:srgbClr val="5E4CE6"/>
                </a:solidFill>
                <a:latin typeface="Arimo"/>
                <a:ea typeface="Arimo"/>
                <a:cs typeface="Arimo"/>
                <a:sym typeface="Arimo"/>
              </a:rPr>
              <a:t>BANKING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3314700"/>
            <a:ext cx="9216923" cy="2593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Bank Login Risk Classification Using Machine Learning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0238" y="6682235"/>
            <a:ext cx="9445523" cy="40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AI-Powered Login Risk Classification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887588"/>
            <a:ext cx="2228850" cy="430711"/>
            <a:chOff x="0" y="0"/>
            <a:chExt cx="2971800" cy="5742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71800" cy="574294"/>
            </a:xfrm>
            <a:custGeom>
              <a:avLst/>
              <a:gdLst/>
              <a:ahLst/>
              <a:cxnLst/>
              <a:rect l="l" t="t" r="r" b="b"/>
              <a:pathLst>
                <a:path w="2971800" h="57429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844800" y="0"/>
                  </a:lnTo>
                  <a:cubicBezTo>
                    <a:pt x="2914904" y="0"/>
                    <a:pt x="2971800" y="56896"/>
                    <a:pt x="2971800" y="127000"/>
                  </a:cubicBezTo>
                  <a:lnTo>
                    <a:pt x="2971800" y="447294"/>
                  </a:lnTo>
                  <a:cubicBezTo>
                    <a:pt x="2971800" y="517398"/>
                    <a:pt x="2914904" y="574294"/>
                    <a:pt x="2844800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963045"/>
            <a:ext cx="2803027" cy="27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(INTRODUCTION)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393604"/>
            <a:ext cx="16303523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The Problem with Traditional Authentication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460852"/>
            <a:ext cx="16303523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Digital banking is growing rapidly — and so are cyber threats. Static password-based authentication can no longer keep pace with increasingly sophisticated attack vectors.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92238" y="4791818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2000" b="-3200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55314" y="4763243"/>
            <a:ext cx="6911426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Digital Banking Growth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5314" y="5300062"/>
            <a:ext cx="69114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Online and mobile banking adoption has surged, expanding the attack surface for malicious actors.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321108" y="4791818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67" r="-8665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384184" y="4763243"/>
            <a:ext cx="6911578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Rising Cyber Threats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84184" y="5300062"/>
            <a:ext cx="6911578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Credential stuffing, brute force, and automated attacks are becoming more frequent and harder to detect.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92238" y="687913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5332" b="-5334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055314" y="6850561"/>
            <a:ext cx="6911426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Password Limitations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55314" y="7387380"/>
            <a:ext cx="69114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Traditional passwords alone provide no contextual risk assessment, leaving systems vulnerable to misuse.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321108" y="687913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384184" y="6850561"/>
            <a:ext cx="6911578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Intelligent Detection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84184" y="7387380"/>
            <a:ext cx="6911578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An intelligent, ML-driven approach can evaluate login context and flag suspicious activity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22274"/>
            <a:ext cx="2463698" cy="383677"/>
            <a:chOff x="0" y="0"/>
            <a:chExt cx="3284931" cy="5115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84982" cy="511556"/>
            </a:xfrm>
            <a:custGeom>
              <a:avLst/>
              <a:gdLst/>
              <a:ahLst/>
              <a:cxnLst/>
              <a:rect l="l" t="t" r="r" b="b"/>
              <a:pathLst>
                <a:path w="3284982" h="511556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lnTo>
                    <a:pt x="3171825" y="0"/>
                  </a:lnTo>
                  <a:cubicBezTo>
                    <a:pt x="3234309" y="0"/>
                    <a:pt x="3284982" y="50673"/>
                    <a:pt x="3284982" y="113157"/>
                  </a:cubicBezTo>
                  <a:lnTo>
                    <a:pt x="3284982" y="398399"/>
                  </a:lnTo>
                  <a:cubicBezTo>
                    <a:pt x="3284982" y="460883"/>
                    <a:pt x="3234309" y="511556"/>
                    <a:pt x="3171825" y="511556"/>
                  </a:cubicBezTo>
                  <a:lnTo>
                    <a:pt x="113157" y="511556"/>
                  </a:lnTo>
                  <a:cubicBezTo>
                    <a:pt x="50673" y="511556"/>
                    <a:pt x="0" y="460883"/>
                    <a:pt x="0" y="398399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43743" y="888502"/>
            <a:ext cx="3075089" cy="241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OBJECTIVES &amp;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257748"/>
            <a:ext cx="16303523" cy="66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Project Objectives &amp; Technology Stack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6" y="2259511"/>
            <a:ext cx="8048777" cy="1826571"/>
            <a:chOff x="0" y="0"/>
            <a:chExt cx="10731703" cy="24354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31627" cy="2435352"/>
            </a:xfrm>
            <a:custGeom>
              <a:avLst/>
              <a:gdLst/>
              <a:ahLst/>
              <a:cxnLst/>
              <a:rect l="l" t="t" r="r" b="b"/>
              <a:pathLst>
                <a:path w="10731627" h="2435352">
                  <a:moveTo>
                    <a:pt x="0" y="142113"/>
                  </a:moveTo>
                  <a:cubicBezTo>
                    <a:pt x="0" y="63627"/>
                    <a:pt x="63627" y="0"/>
                    <a:pt x="142113" y="0"/>
                  </a:cubicBezTo>
                  <a:lnTo>
                    <a:pt x="10589514" y="0"/>
                  </a:lnTo>
                  <a:cubicBezTo>
                    <a:pt x="10668000" y="0"/>
                    <a:pt x="10731627" y="63627"/>
                    <a:pt x="10731627" y="142113"/>
                  </a:cubicBezTo>
                  <a:lnTo>
                    <a:pt x="10731627" y="2293239"/>
                  </a:lnTo>
                  <a:cubicBezTo>
                    <a:pt x="10731627" y="2371725"/>
                    <a:pt x="10668000" y="2435352"/>
                    <a:pt x="10589514" y="2435352"/>
                  </a:cubicBezTo>
                  <a:lnTo>
                    <a:pt x="142113" y="2435352"/>
                  </a:lnTo>
                  <a:cubicBezTo>
                    <a:pt x="63627" y="2435479"/>
                    <a:pt x="0" y="2371725"/>
                    <a:pt x="0" y="2293239"/>
                  </a:cubicBezTo>
                  <a:close/>
                </a:path>
              </a:pathLst>
            </a:custGeom>
            <a:solidFill>
              <a:srgbClr val="E9E6FA"/>
            </a:solidFill>
            <a:ln w="9526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54176" y="2507161"/>
            <a:ext cx="7515377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Detect Suspicious Logins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4176" y="2988916"/>
            <a:ext cx="7515377" cy="83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Identify potentially malicious login attempts using contextual input features.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51604" y="2259511"/>
            <a:ext cx="8048920" cy="1826571"/>
            <a:chOff x="0" y="0"/>
            <a:chExt cx="10731894" cy="24354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31881" cy="2435352"/>
            </a:xfrm>
            <a:custGeom>
              <a:avLst/>
              <a:gdLst/>
              <a:ahLst/>
              <a:cxnLst/>
              <a:rect l="l" t="t" r="r" b="b"/>
              <a:pathLst>
                <a:path w="10731881" h="2435352">
                  <a:moveTo>
                    <a:pt x="0" y="142113"/>
                  </a:moveTo>
                  <a:cubicBezTo>
                    <a:pt x="0" y="63627"/>
                    <a:pt x="63627" y="0"/>
                    <a:pt x="142113" y="0"/>
                  </a:cubicBezTo>
                  <a:lnTo>
                    <a:pt x="10589768" y="0"/>
                  </a:lnTo>
                  <a:cubicBezTo>
                    <a:pt x="10668254" y="0"/>
                    <a:pt x="10731881" y="63627"/>
                    <a:pt x="10731881" y="142113"/>
                  </a:cubicBezTo>
                  <a:lnTo>
                    <a:pt x="10731881" y="2293239"/>
                  </a:lnTo>
                  <a:cubicBezTo>
                    <a:pt x="10731881" y="2371725"/>
                    <a:pt x="10668254" y="2435352"/>
                    <a:pt x="10589768" y="2435352"/>
                  </a:cubicBezTo>
                  <a:lnTo>
                    <a:pt x="142113" y="2435352"/>
                  </a:lnTo>
                  <a:cubicBezTo>
                    <a:pt x="63627" y="2435479"/>
                    <a:pt x="0" y="2371725"/>
                    <a:pt x="0" y="2293239"/>
                  </a:cubicBezTo>
                  <a:close/>
                </a:path>
              </a:pathLst>
            </a:custGeom>
            <a:solidFill>
              <a:srgbClr val="E9E6FA"/>
            </a:solidFill>
            <a:ln w="9526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518304" y="2507161"/>
            <a:ext cx="7515520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Classify Login Risk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8304" y="2988916"/>
            <a:ext cx="7515520" cy="83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Categorize each attempt as low, medium, or high threat for actionable response.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87476" y="4301433"/>
            <a:ext cx="8048777" cy="1826571"/>
            <a:chOff x="0" y="0"/>
            <a:chExt cx="10731703" cy="24354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31627" cy="2435352"/>
            </a:xfrm>
            <a:custGeom>
              <a:avLst/>
              <a:gdLst/>
              <a:ahLst/>
              <a:cxnLst/>
              <a:rect l="l" t="t" r="r" b="b"/>
              <a:pathLst>
                <a:path w="10731627" h="2435352">
                  <a:moveTo>
                    <a:pt x="0" y="142113"/>
                  </a:moveTo>
                  <a:cubicBezTo>
                    <a:pt x="0" y="63627"/>
                    <a:pt x="63627" y="0"/>
                    <a:pt x="142113" y="0"/>
                  </a:cubicBezTo>
                  <a:lnTo>
                    <a:pt x="10589514" y="0"/>
                  </a:lnTo>
                  <a:cubicBezTo>
                    <a:pt x="10668000" y="0"/>
                    <a:pt x="10731627" y="63627"/>
                    <a:pt x="10731627" y="142113"/>
                  </a:cubicBezTo>
                  <a:lnTo>
                    <a:pt x="10731627" y="2293239"/>
                  </a:lnTo>
                  <a:cubicBezTo>
                    <a:pt x="10731627" y="2371725"/>
                    <a:pt x="10668000" y="2435352"/>
                    <a:pt x="10589514" y="2435352"/>
                  </a:cubicBezTo>
                  <a:lnTo>
                    <a:pt x="142113" y="2435352"/>
                  </a:lnTo>
                  <a:cubicBezTo>
                    <a:pt x="63627" y="2435479"/>
                    <a:pt x="0" y="2371725"/>
                    <a:pt x="0" y="2293239"/>
                  </a:cubicBezTo>
                  <a:close/>
                </a:path>
              </a:pathLst>
            </a:custGeom>
            <a:solidFill>
              <a:srgbClr val="E9E6FA"/>
            </a:solidFill>
            <a:ln w="9526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54176" y="4549083"/>
            <a:ext cx="7515377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Real-Time Prediction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176" y="5030838"/>
            <a:ext cx="7515377" cy="83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Deliver instant risk assessment with a trained ML model and Flask backend.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51604" y="4301433"/>
            <a:ext cx="8048920" cy="1826571"/>
            <a:chOff x="0" y="0"/>
            <a:chExt cx="10731894" cy="24354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31881" cy="2435352"/>
            </a:xfrm>
            <a:custGeom>
              <a:avLst/>
              <a:gdLst/>
              <a:ahLst/>
              <a:cxnLst/>
              <a:rect l="l" t="t" r="r" b="b"/>
              <a:pathLst>
                <a:path w="10731881" h="2435352">
                  <a:moveTo>
                    <a:pt x="0" y="142113"/>
                  </a:moveTo>
                  <a:cubicBezTo>
                    <a:pt x="0" y="63627"/>
                    <a:pt x="63627" y="0"/>
                    <a:pt x="142113" y="0"/>
                  </a:cubicBezTo>
                  <a:lnTo>
                    <a:pt x="10589768" y="0"/>
                  </a:lnTo>
                  <a:cubicBezTo>
                    <a:pt x="10668254" y="0"/>
                    <a:pt x="10731881" y="63627"/>
                    <a:pt x="10731881" y="142113"/>
                  </a:cubicBezTo>
                  <a:lnTo>
                    <a:pt x="10731881" y="2293239"/>
                  </a:lnTo>
                  <a:cubicBezTo>
                    <a:pt x="10731881" y="2371725"/>
                    <a:pt x="10668254" y="2435352"/>
                    <a:pt x="10589768" y="2435352"/>
                  </a:cubicBezTo>
                  <a:lnTo>
                    <a:pt x="142113" y="2435352"/>
                  </a:lnTo>
                  <a:cubicBezTo>
                    <a:pt x="63627" y="2435479"/>
                    <a:pt x="0" y="2371725"/>
                    <a:pt x="0" y="2293239"/>
                  </a:cubicBezTo>
                  <a:close/>
                </a:path>
              </a:pathLst>
            </a:custGeom>
            <a:solidFill>
              <a:srgbClr val="E9E6FA"/>
            </a:solidFill>
            <a:ln w="9526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9518304" y="4549083"/>
            <a:ext cx="7515520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Easy Web Deployment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18304" y="5030838"/>
            <a:ext cx="7515520" cy="83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Lightweight, responsive web interface for quick integration and testing.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6441434"/>
            <a:ext cx="16303523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Technology Stack</a:t>
            </a:r>
          </a:p>
        </p:txBody>
      </p:sp>
      <p:sp>
        <p:nvSpPr>
          <p:cNvPr id="27" name="Freeform 27" descr="preencoded.png"/>
          <p:cNvSpPr/>
          <p:nvPr/>
        </p:nvSpPr>
        <p:spPr>
          <a:xfrm>
            <a:off x="992238" y="7192270"/>
            <a:ext cx="631184" cy="631184"/>
          </a:xfrm>
          <a:custGeom>
            <a:avLst/>
            <a:gdLst/>
            <a:ahLst/>
            <a:cxnLst/>
            <a:rect l="l" t="t" r="r" b="b"/>
            <a:pathLst>
              <a:path w="631184" h="631184">
                <a:moveTo>
                  <a:pt x="0" y="0"/>
                </a:moveTo>
                <a:lnTo>
                  <a:pt x="631184" y="0"/>
                </a:lnTo>
                <a:lnTo>
                  <a:pt x="631184" y="631184"/>
                </a:lnTo>
                <a:lnTo>
                  <a:pt x="0" y="631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716" b="-6715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904400" y="7173220"/>
            <a:ext cx="7099106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Python &amp; Flask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04400" y="7654976"/>
            <a:ext cx="7099106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Backend logic and web routing</a:t>
            </a:r>
          </a:p>
        </p:txBody>
      </p:sp>
      <p:sp>
        <p:nvSpPr>
          <p:cNvPr id="30" name="Freeform 30" descr="preencoded.png"/>
          <p:cNvSpPr/>
          <p:nvPr/>
        </p:nvSpPr>
        <p:spPr>
          <a:xfrm>
            <a:off x="9284494" y="7192270"/>
            <a:ext cx="631184" cy="631184"/>
          </a:xfrm>
          <a:custGeom>
            <a:avLst/>
            <a:gdLst/>
            <a:ahLst/>
            <a:cxnLst/>
            <a:rect l="l" t="t" r="r" b="b"/>
            <a:pathLst>
              <a:path w="631184" h="631184">
                <a:moveTo>
                  <a:pt x="0" y="0"/>
                </a:moveTo>
                <a:lnTo>
                  <a:pt x="631183" y="0"/>
                </a:lnTo>
                <a:lnTo>
                  <a:pt x="631183" y="631184"/>
                </a:lnTo>
                <a:lnTo>
                  <a:pt x="0" y="631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924" r="-14924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196665" y="7173220"/>
            <a:ext cx="7099106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HTML &amp; CSS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96665" y="7654976"/>
            <a:ext cx="7099106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Responsive frontend interface</a:t>
            </a:r>
          </a:p>
        </p:txBody>
      </p:sp>
      <p:sp>
        <p:nvSpPr>
          <p:cNvPr id="33" name="Freeform 33" descr="preencoded.png"/>
          <p:cNvSpPr/>
          <p:nvPr/>
        </p:nvSpPr>
        <p:spPr>
          <a:xfrm>
            <a:off x="992238" y="8553298"/>
            <a:ext cx="631184" cy="631184"/>
          </a:xfrm>
          <a:custGeom>
            <a:avLst/>
            <a:gdLst/>
            <a:ahLst/>
            <a:cxnLst/>
            <a:rect l="l" t="t" r="r" b="b"/>
            <a:pathLst>
              <a:path w="631184" h="631184">
                <a:moveTo>
                  <a:pt x="0" y="0"/>
                </a:moveTo>
                <a:lnTo>
                  <a:pt x="631184" y="0"/>
                </a:lnTo>
                <a:lnTo>
                  <a:pt x="631184" y="631183"/>
                </a:lnTo>
                <a:lnTo>
                  <a:pt x="0" y="631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492" b="-1492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904400" y="8534248"/>
            <a:ext cx="7099106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Pandas &amp; NumPy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04400" y="9016003"/>
            <a:ext cx="7099106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 preprocessing and manipulation</a:t>
            </a:r>
          </a:p>
        </p:txBody>
      </p:sp>
      <p:sp>
        <p:nvSpPr>
          <p:cNvPr id="36" name="Freeform 36" descr="preencoded.png"/>
          <p:cNvSpPr/>
          <p:nvPr/>
        </p:nvSpPr>
        <p:spPr>
          <a:xfrm>
            <a:off x="9284494" y="8553298"/>
            <a:ext cx="631184" cy="631184"/>
          </a:xfrm>
          <a:custGeom>
            <a:avLst/>
            <a:gdLst/>
            <a:ahLst/>
            <a:cxnLst/>
            <a:rect l="l" t="t" r="r" b="b"/>
            <a:pathLst>
              <a:path w="631184" h="631184">
                <a:moveTo>
                  <a:pt x="0" y="0"/>
                </a:moveTo>
                <a:lnTo>
                  <a:pt x="631183" y="0"/>
                </a:lnTo>
                <a:lnTo>
                  <a:pt x="631183" y="631183"/>
                </a:lnTo>
                <a:lnTo>
                  <a:pt x="0" y="631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984" b="-2984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0196665" y="8534248"/>
            <a:ext cx="7099106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Scikit-learn &amp; Joblib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96665" y="9016003"/>
            <a:ext cx="7099106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Model training, inference, and persistence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89549"/>
            <a:ext cx="1222477" cy="248993"/>
            <a:chOff x="0" y="0"/>
            <a:chExt cx="1629969" cy="3319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9918" cy="331978"/>
            </a:xfrm>
            <a:custGeom>
              <a:avLst/>
              <a:gdLst/>
              <a:ahLst/>
              <a:cxnLst/>
              <a:rect l="l" t="t" r="r" b="b"/>
              <a:pathLst>
                <a:path w="1629918" h="331978">
                  <a:moveTo>
                    <a:pt x="0" y="73406"/>
                  </a:moveTo>
                  <a:cubicBezTo>
                    <a:pt x="0" y="32893"/>
                    <a:pt x="32893" y="0"/>
                    <a:pt x="73406" y="0"/>
                  </a:cubicBezTo>
                  <a:lnTo>
                    <a:pt x="1556512" y="0"/>
                  </a:lnTo>
                  <a:cubicBezTo>
                    <a:pt x="1597025" y="0"/>
                    <a:pt x="1629918" y="32893"/>
                    <a:pt x="1629918" y="73406"/>
                  </a:cubicBezTo>
                  <a:lnTo>
                    <a:pt x="1629918" y="258572"/>
                  </a:lnTo>
                  <a:cubicBezTo>
                    <a:pt x="1629918" y="299085"/>
                    <a:pt x="1597025" y="331978"/>
                    <a:pt x="1556512" y="331978"/>
                  </a:cubicBezTo>
                  <a:lnTo>
                    <a:pt x="73406" y="331978"/>
                  </a:lnTo>
                  <a:cubicBezTo>
                    <a:pt x="32893" y="331978"/>
                    <a:pt x="0" y="299085"/>
                    <a:pt x="0" y="258572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90460" y="938660"/>
            <a:ext cx="1940423" cy="15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10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147763"/>
            <a:ext cx="16303523" cy="438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1795463"/>
            <a:ext cx="17217923" cy="202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 clean, linear pipeline from user interaction to threat classification — each stage handled by a dedicated component.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2041627"/>
            <a:ext cx="16303523" cy="7042252"/>
            <a:chOff x="0" y="0"/>
            <a:chExt cx="21738031" cy="938966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1738082" cy="9389618"/>
            </a:xfrm>
            <a:custGeom>
              <a:avLst/>
              <a:gdLst/>
              <a:ahLst/>
              <a:cxnLst/>
              <a:rect l="l" t="t" r="r" b="b"/>
              <a:pathLst>
                <a:path w="21738082" h="9389618">
                  <a:moveTo>
                    <a:pt x="0" y="0"/>
                  </a:moveTo>
                  <a:lnTo>
                    <a:pt x="21738082" y="0"/>
                  </a:lnTo>
                  <a:lnTo>
                    <a:pt x="21738082" y="9389618"/>
                  </a:lnTo>
                  <a:lnTo>
                    <a:pt x="0" y="9389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" b="-3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882658" y="6853476"/>
            <a:ext cx="2420798" cy="91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HTML Frontend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82658" y="7917837"/>
            <a:ext cx="2420798" cy="52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Collects and sends input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98635" y="6853476"/>
            <a:ext cx="2420798" cy="91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Input Validation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98635" y="7917837"/>
            <a:ext cx="2420798" cy="52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Sanitizes and verifies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2385" y="2648493"/>
            <a:ext cx="2420798" cy="469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82385" y="3271961"/>
            <a:ext cx="2420798" cy="52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Initiates request via UI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06554" y="2648493"/>
            <a:ext cx="2420798" cy="135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Machine Learning Model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06554" y="4153767"/>
            <a:ext cx="2420798" cy="52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Processes features for scoring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29223" y="2648493"/>
            <a:ext cx="2420798" cy="469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Flask Backend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29223" y="3271961"/>
            <a:ext cx="2420798" cy="52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Routes requests and logic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238" y="9237822"/>
            <a:ext cx="16303523" cy="58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The architecture follows a straightforward request-response pattern: the user interacts with the HTML frontend, which forwards data to the Flask backend for</a:t>
            </a:r>
          </a:p>
          <a:p>
            <a:pPr algn="l">
              <a:lnSpc>
                <a:spcPts val="1512"/>
              </a:lnSpc>
            </a:pPr>
            <a:endParaRPr lang="en-US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512"/>
              </a:lnSpc>
            </a:pPr>
            <a:r>
              <a:rPr lang="en-US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validation and model inference, then returns a classified risk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8197" y="0"/>
            <a:ext cx="18324394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779707"/>
            <a:ext cx="1063676" cy="215208"/>
            <a:chOff x="0" y="0"/>
            <a:chExt cx="1418234" cy="2869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8209" cy="286893"/>
            </a:xfrm>
            <a:custGeom>
              <a:avLst/>
              <a:gdLst/>
              <a:ahLst/>
              <a:cxnLst/>
              <a:rect l="l" t="t" r="r" b="b"/>
              <a:pathLst>
                <a:path w="1418209" h="286893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354709" y="0"/>
                  </a:lnTo>
                  <a:cubicBezTo>
                    <a:pt x="1389761" y="0"/>
                    <a:pt x="1418209" y="28448"/>
                    <a:pt x="1418209" y="63500"/>
                  </a:cubicBezTo>
                  <a:lnTo>
                    <a:pt x="1418209" y="223393"/>
                  </a:lnTo>
                  <a:cubicBezTo>
                    <a:pt x="1418209" y="258445"/>
                    <a:pt x="1389761" y="286893"/>
                    <a:pt x="1354709" y="286893"/>
                  </a:cubicBezTo>
                  <a:lnTo>
                    <a:pt x="63500" y="286893"/>
                  </a:lnTo>
                  <a:cubicBezTo>
                    <a:pt x="28448" y="286893"/>
                    <a:pt x="0" y="258445"/>
                    <a:pt x="0" y="223393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77220" y="812597"/>
            <a:ext cx="1808112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"/>
              </a:lnSpc>
            </a:pPr>
            <a:r>
              <a:rPr lang="en-US" sz="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0160" y="1196035"/>
            <a:ext cx="16303523" cy="35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3200" dirty="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Working 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692" y="2138464"/>
            <a:ext cx="7978826" cy="22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2400" dirty="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User Input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160" y="2745180"/>
            <a:ext cx="7978826" cy="185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Login Hour</a:t>
            </a: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endParaRPr lang="en-US" sz="2000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Device Type</a:t>
            </a: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endParaRPr lang="en-US" sz="2000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Browser</a:t>
            </a: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endParaRPr lang="en-US" sz="2000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Failure Reason</a:t>
            </a: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endParaRPr lang="en-US" sz="2000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Authentication Type</a:t>
            </a: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endParaRPr lang="en-US" sz="2000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65430" lvl="1" indent="-132715" algn="l">
              <a:lnSpc>
                <a:spcPts val="1320"/>
              </a:lnSpc>
              <a:buFont typeface="Arial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IP Category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117279"/>
            <a:ext cx="7978826" cy="861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The frontend sends these inputs to Flask, which</a:t>
            </a:r>
          </a:p>
          <a:p>
            <a:pPr algn="l">
              <a:lnSpc>
                <a:spcPts val="1320"/>
              </a:lnSpc>
            </a:pPr>
            <a:endParaRPr lang="en-US" sz="2000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320"/>
              </a:lnSpc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preprocesses and passes them to the trained ML model</a:t>
            </a:r>
          </a:p>
          <a:p>
            <a:pPr algn="l">
              <a:lnSpc>
                <a:spcPts val="1320"/>
              </a:lnSpc>
            </a:pPr>
            <a:endParaRPr lang="en-US" sz="2000" dirty="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320"/>
              </a:lnSpc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for real-time risk classification.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686800" y="1501602"/>
            <a:ext cx="7978826" cy="7978826"/>
            <a:chOff x="0" y="0"/>
            <a:chExt cx="10638434" cy="10638434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638409" cy="10638409"/>
            </a:xfrm>
            <a:custGeom>
              <a:avLst/>
              <a:gdLst/>
              <a:ahLst/>
              <a:cxnLst/>
              <a:rect l="l" t="t" r="r" b="b"/>
              <a:pathLst>
                <a:path w="10638409" h="10638409">
                  <a:moveTo>
                    <a:pt x="0" y="0"/>
                  </a:moveTo>
                  <a:lnTo>
                    <a:pt x="10638409" y="0"/>
                  </a:lnTo>
                  <a:lnTo>
                    <a:pt x="10638409" y="10638409"/>
                  </a:lnTo>
                  <a:lnTo>
                    <a:pt x="0" y="1063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911276"/>
            <a:ext cx="2028082" cy="430711"/>
            <a:chOff x="0" y="0"/>
            <a:chExt cx="2704109" cy="5742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4084" cy="574294"/>
            </a:xfrm>
            <a:custGeom>
              <a:avLst/>
              <a:gdLst/>
              <a:ahLst/>
              <a:cxnLst/>
              <a:rect l="l" t="t" r="r" b="b"/>
              <a:pathLst>
                <a:path w="2704084" h="57429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577084" y="0"/>
                  </a:lnTo>
                  <a:cubicBezTo>
                    <a:pt x="2647188" y="0"/>
                    <a:pt x="2704084" y="56896"/>
                    <a:pt x="2704084" y="127000"/>
                  </a:cubicBezTo>
                  <a:lnTo>
                    <a:pt x="2704084" y="447294"/>
                  </a:lnTo>
                  <a:cubicBezTo>
                    <a:pt x="2704084" y="517398"/>
                    <a:pt x="2647188" y="574294"/>
                    <a:pt x="257708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986733"/>
            <a:ext cx="2602259" cy="27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BACKEND &amp; ML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417291"/>
            <a:ext cx="16303523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Backend &amp; Machine Learning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2844251"/>
            <a:ext cx="780589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Flask Backend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3790655"/>
            <a:ext cx="141684" cy="141684"/>
            <a:chOff x="0" y="0"/>
            <a:chExt cx="188912" cy="1889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417444" y="3529908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Flask routing and form handling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38" y="4811316"/>
            <a:ext cx="141684" cy="141684"/>
            <a:chOff x="0" y="0"/>
            <a:chExt cx="188912" cy="1889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17444" y="4550569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Model loading using Joblib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238" y="5831977"/>
            <a:ext cx="141684" cy="141684"/>
            <a:chOff x="0" y="0"/>
            <a:chExt cx="188912" cy="1889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417444" y="5571230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 preprocessing and transformation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2238" y="6852637"/>
            <a:ext cx="141684" cy="141684"/>
            <a:chOff x="0" y="0"/>
            <a:chExt cx="188912" cy="1889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417444" y="6591891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Prediction logic and response generation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99406" y="2844251"/>
            <a:ext cx="780589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Machine Learning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499406" y="3790655"/>
            <a:ext cx="141684" cy="141684"/>
            <a:chOff x="0" y="0"/>
            <a:chExt cx="188912" cy="1889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924602" y="3529908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Dataset preprocessing and cleaning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499406" y="4811316"/>
            <a:ext cx="141684" cy="141684"/>
            <a:chOff x="0" y="0"/>
            <a:chExt cx="188912" cy="18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9924602" y="4550569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Label Encoding for categorical features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499406" y="5831977"/>
            <a:ext cx="141684" cy="141684"/>
            <a:chOff x="0" y="0"/>
            <a:chExt cx="188912" cy="1889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9924602" y="5571230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Feature selection and model training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499406" y="6852637"/>
            <a:ext cx="141684" cy="141684"/>
            <a:chOff x="0" y="0"/>
            <a:chExt cx="188912" cy="18891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9924602" y="6591891"/>
            <a:ext cx="738068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Prediction on live user input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92238" y="7788173"/>
            <a:ext cx="16303523" cy="1587551"/>
            <a:chOff x="0" y="0"/>
            <a:chExt cx="21738031" cy="211673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737955" cy="2116709"/>
            </a:xfrm>
            <a:custGeom>
              <a:avLst/>
              <a:gdLst/>
              <a:ahLst/>
              <a:cxnLst/>
              <a:rect l="l" t="t" r="r" b="b"/>
              <a:pathLst>
                <a:path w="21737955" h="211670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957959"/>
                  </a:lnTo>
                  <a:cubicBezTo>
                    <a:pt x="21737955" y="2045589"/>
                    <a:pt x="21666836" y="2116709"/>
                    <a:pt x="21579205" y="2116709"/>
                  </a:cubicBezTo>
                  <a:lnTo>
                    <a:pt x="158750" y="2116709"/>
                  </a:lnTo>
                  <a:cubicBezTo>
                    <a:pt x="71120" y="2116709"/>
                    <a:pt x="0" y="2045589"/>
                    <a:pt x="0" y="1957959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75750" y="8189709"/>
            <a:ext cx="354359" cy="283521"/>
            <a:chOff x="0" y="0"/>
            <a:chExt cx="472478" cy="378028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2" r="-680" b="13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1913630" y="8037757"/>
            <a:ext cx="15098611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trained model is persisted with Joblib and loaded at runtime, enabling fast inference without retraining on each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05605"/>
            <a:ext cx="1269949" cy="289474"/>
            <a:chOff x="0" y="0"/>
            <a:chExt cx="1693266" cy="3859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3291" cy="385953"/>
            </a:xfrm>
            <a:custGeom>
              <a:avLst/>
              <a:gdLst/>
              <a:ahLst/>
              <a:cxnLst/>
              <a:rect l="l" t="t" r="r" b="b"/>
              <a:pathLst>
                <a:path w="1693291" h="385953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1607947" y="0"/>
                  </a:lnTo>
                  <a:cubicBezTo>
                    <a:pt x="1655064" y="0"/>
                    <a:pt x="1693291" y="38227"/>
                    <a:pt x="1693291" y="85344"/>
                  </a:cubicBezTo>
                  <a:lnTo>
                    <a:pt x="1693291" y="300609"/>
                  </a:lnTo>
                  <a:cubicBezTo>
                    <a:pt x="1693291" y="347726"/>
                    <a:pt x="1655064" y="385953"/>
                    <a:pt x="1607947" y="385953"/>
                  </a:cubicBezTo>
                  <a:lnTo>
                    <a:pt x="85344" y="385953"/>
                  </a:lnTo>
                  <a:cubicBezTo>
                    <a:pt x="38227" y="385953"/>
                    <a:pt x="0" y="347726"/>
                    <a:pt x="0" y="300609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06538" y="853230"/>
            <a:ext cx="1955749" cy="18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2"/>
              </a:lnSpc>
            </a:pPr>
            <a:r>
              <a:rPr lang="en-US" sz="1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 UI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117702"/>
            <a:ext cx="1630352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Frontend &amp; User Interface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01040" y="4631531"/>
            <a:ext cx="5404094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20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The responsive HTML interface provides a streamlined experience for evaluating login risk in real time.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8159201"/>
            <a:ext cx="3979812" cy="1322194"/>
          </a:xfrm>
          <a:custGeom>
            <a:avLst/>
            <a:gdLst/>
            <a:ahLst/>
            <a:cxnLst/>
            <a:rect l="l" t="t" r="r" b="b"/>
            <a:pathLst>
              <a:path w="3979812" h="1322194">
                <a:moveTo>
                  <a:pt x="0" y="0"/>
                </a:moveTo>
                <a:lnTo>
                  <a:pt x="3979812" y="0"/>
                </a:lnTo>
                <a:lnTo>
                  <a:pt x="3979812" y="1322194"/>
                </a:lnTo>
                <a:lnTo>
                  <a:pt x="0" y="1322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6" b="-4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25613" y="8349701"/>
            <a:ext cx="3427362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Input Form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613" y="8724157"/>
            <a:ext cx="3427362" cy="49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 dirty="0">
                <a:solidFill>
                  <a:schemeClr val="bg2"/>
                </a:solidFill>
                <a:latin typeface="Arimo"/>
                <a:ea typeface="Arimo"/>
                <a:cs typeface="Arimo"/>
                <a:sym typeface="Arimo"/>
              </a:rPr>
              <a:t>Structured fields for login hour, device, browser, and more.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5100037" y="8159201"/>
            <a:ext cx="3979964" cy="1322194"/>
          </a:xfrm>
          <a:custGeom>
            <a:avLst/>
            <a:gdLst/>
            <a:ahLst/>
            <a:cxnLst/>
            <a:rect l="l" t="t" r="r" b="b"/>
            <a:pathLst>
              <a:path w="3979964" h="1322194">
                <a:moveTo>
                  <a:pt x="0" y="0"/>
                </a:moveTo>
                <a:lnTo>
                  <a:pt x="3979965" y="0"/>
                </a:lnTo>
                <a:lnTo>
                  <a:pt x="3979965" y="1322194"/>
                </a:lnTo>
                <a:lnTo>
                  <a:pt x="0" y="1322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8" b="-4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433422" y="8349701"/>
            <a:ext cx="3427514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Dropdown Selections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33422" y="8724157"/>
            <a:ext cx="3427514" cy="49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 dirty="0">
                <a:solidFill>
                  <a:schemeClr val="bg2"/>
                </a:solidFill>
                <a:latin typeface="Arimo"/>
                <a:ea typeface="Arimo"/>
                <a:cs typeface="Arimo"/>
                <a:sym typeface="Arimo"/>
              </a:rPr>
              <a:t>Predefined options ensure valid, consistent input data.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207998" y="8159201"/>
            <a:ext cx="3979812" cy="1322194"/>
          </a:xfrm>
          <a:custGeom>
            <a:avLst/>
            <a:gdLst/>
            <a:ahLst/>
            <a:cxnLst/>
            <a:rect l="l" t="t" r="r" b="b"/>
            <a:pathLst>
              <a:path w="3979812" h="1322194">
                <a:moveTo>
                  <a:pt x="0" y="0"/>
                </a:moveTo>
                <a:lnTo>
                  <a:pt x="3979812" y="0"/>
                </a:lnTo>
                <a:lnTo>
                  <a:pt x="3979812" y="1322194"/>
                </a:lnTo>
                <a:lnTo>
                  <a:pt x="0" y="1322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6" b="-46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541373" y="8349701"/>
            <a:ext cx="3427362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Validation &amp; Prediction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41373" y="8724157"/>
            <a:ext cx="3427362" cy="49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 dirty="0">
                <a:solidFill>
                  <a:schemeClr val="bg2"/>
                </a:solidFill>
                <a:latin typeface="Arimo"/>
                <a:ea typeface="Arimo"/>
                <a:cs typeface="Arimo"/>
                <a:sym typeface="Arimo"/>
              </a:rPr>
              <a:t>Client-side validation before triggering the ML model.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13315798" y="8159201"/>
            <a:ext cx="3979964" cy="1322194"/>
          </a:xfrm>
          <a:custGeom>
            <a:avLst/>
            <a:gdLst/>
            <a:ahLst/>
            <a:cxnLst/>
            <a:rect l="l" t="t" r="r" b="b"/>
            <a:pathLst>
              <a:path w="3979964" h="1322194">
                <a:moveTo>
                  <a:pt x="0" y="0"/>
                </a:moveTo>
                <a:lnTo>
                  <a:pt x="3979964" y="0"/>
                </a:lnTo>
                <a:lnTo>
                  <a:pt x="3979964" y="1322194"/>
                </a:lnTo>
                <a:lnTo>
                  <a:pt x="0" y="1322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8" b="-48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649173" y="8349701"/>
            <a:ext cx="3427514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Result Display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49173" y="8724157"/>
            <a:ext cx="3427514" cy="49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 dirty="0">
                <a:solidFill>
                  <a:schemeClr val="bg2"/>
                </a:solidFill>
                <a:latin typeface="Arimo"/>
                <a:ea typeface="Arimo"/>
                <a:cs typeface="Arimo"/>
                <a:sym typeface="Arimo"/>
              </a:rPr>
              <a:t>Clear, color-coded threat level shown instantly.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5A2AB83-05E7-7563-BB5B-A626666187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38" y="1667338"/>
            <a:ext cx="10476992" cy="5878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7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2049218"/>
            <a:ext cx="2326034" cy="430711"/>
            <a:chOff x="0" y="0"/>
            <a:chExt cx="3101378" cy="5742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01340" cy="574294"/>
            </a:xfrm>
            <a:custGeom>
              <a:avLst/>
              <a:gdLst/>
              <a:ahLst/>
              <a:cxnLst/>
              <a:rect l="l" t="t" r="r" b="b"/>
              <a:pathLst>
                <a:path w="3101340" h="57429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74340" y="0"/>
                  </a:lnTo>
                  <a:cubicBezTo>
                    <a:pt x="3044444" y="0"/>
                    <a:pt x="3101340" y="56896"/>
                    <a:pt x="3101340" y="127000"/>
                  </a:cubicBezTo>
                  <a:lnTo>
                    <a:pt x="3101340" y="447294"/>
                  </a:lnTo>
                  <a:cubicBezTo>
                    <a:pt x="3101340" y="517398"/>
                    <a:pt x="3044444" y="574294"/>
                    <a:pt x="2974340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2124675"/>
            <a:ext cx="2900210" cy="27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DEMO &amp; 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555234"/>
            <a:ext cx="16303523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dirty="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Application Demo &amp;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622481"/>
            <a:ext cx="17217923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The web application classifies each login attempt into one of three threat levels based on the submitted input features.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4499820"/>
            <a:ext cx="3014958" cy="1863328"/>
            <a:chOff x="0" y="0"/>
            <a:chExt cx="4019944" cy="248443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019931" cy="2484374"/>
            </a:xfrm>
            <a:custGeom>
              <a:avLst/>
              <a:gdLst/>
              <a:ahLst/>
              <a:cxnLst/>
              <a:rect l="l" t="t" r="r" b="b"/>
              <a:pathLst>
                <a:path w="4019931" h="2484374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" b="-2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92238" y="6688931"/>
            <a:ext cx="5198269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🟢</a:t>
            </a: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Low Threat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7225751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Normal login patterns with expected device, browser, and timing.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44866" y="4499820"/>
            <a:ext cx="3014958" cy="1863328"/>
            <a:chOff x="0" y="0"/>
            <a:chExt cx="4019944" cy="248443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019931" cy="2484374"/>
            </a:xfrm>
            <a:custGeom>
              <a:avLst/>
              <a:gdLst/>
              <a:ahLst/>
              <a:cxnLst/>
              <a:rect l="l" t="t" r="r" b="b"/>
              <a:pathLst>
                <a:path w="4019931" h="2484374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" b="-24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6544866" y="6688931"/>
            <a:ext cx="5198269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🟡</a:t>
            </a: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Medium Threat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4866" y="7225751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Unusual combinations of inputs that warrant additional scrutiny.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97493" y="4499820"/>
            <a:ext cx="3014958" cy="1863328"/>
            <a:chOff x="0" y="0"/>
            <a:chExt cx="4019944" cy="2484438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4019931" cy="2484374"/>
            </a:xfrm>
            <a:custGeom>
              <a:avLst/>
              <a:gdLst/>
              <a:ahLst/>
              <a:cxnLst/>
              <a:rect l="l" t="t" r="r" b="b"/>
              <a:pathLst>
                <a:path w="4019931" h="2484374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1" b="-24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2097493" y="6688931"/>
            <a:ext cx="5198269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🔴</a:t>
            </a: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High Threat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97493" y="7225751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Suspicious login characteristics indicating a likely malicious attempt.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69418" y="1050152"/>
            <a:ext cx="16303523" cy="65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1"/>
              </a:lnSpc>
            </a:pPr>
            <a:r>
              <a:rPr lang="en-US" sz="4400" dirty="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Advantages, Applications &amp; Future Scope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209800" y="2980102"/>
            <a:ext cx="2287191" cy="2287191"/>
            <a:chOff x="0" y="0"/>
            <a:chExt cx="3049588" cy="304958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3049524" cy="3049524"/>
            </a:xfrm>
            <a:custGeom>
              <a:avLst/>
              <a:gdLst/>
              <a:ahLst/>
              <a:cxnLst/>
              <a:rect l="l" t="t" r="r" b="b"/>
              <a:pathLst>
                <a:path w="3049524" h="3049524">
                  <a:moveTo>
                    <a:pt x="0" y="0"/>
                  </a:moveTo>
                  <a:lnTo>
                    <a:pt x="3049524" y="0"/>
                  </a:lnTo>
                  <a:lnTo>
                    <a:pt x="3049524" y="3049524"/>
                  </a:lnTo>
                  <a:lnTo>
                    <a:pt x="0" y="3049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38200" y="5640060"/>
            <a:ext cx="5198269" cy="40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9418" y="6418692"/>
            <a:ext cx="5198269" cy="129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1"/>
              </a:lnSpc>
            </a:pPr>
            <a:r>
              <a:rPr lang="en-US" sz="22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Real-time prediction, ML-based detection, improved security, fast response, and easy deployment.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959410" y="2985220"/>
            <a:ext cx="2287191" cy="2287191"/>
            <a:chOff x="0" y="0"/>
            <a:chExt cx="3049588" cy="3049588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049524" cy="3049524"/>
            </a:xfrm>
            <a:custGeom>
              <a:avLst/>
              <a:gdLst/>
              <a:ahLst/>
              <a:cxnLst/>
              <a:rect l="l" t="t" r="r" b="b"/>
              <a:pathLst>
                <a:path w="3049524" h="3049524">
                  <a:moveTo>
                    <a:pt x="0" y="0"/>
                  </a:moveTo>
                  <a:lnTo>
                    <a:pt x="3049524" y="0"/>
                  </a:lnTo>
                  <a:lnTo>
                    <a:pt x="3049524" y="3049524"/>
                  </a:lnTo>
                  <a:lnTo>
                    <a:pt x="0" y="3049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566474" y="5640059"/>
            <a:ext cx="5198269" cy="40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Applications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73875" y="6428217"/>
            <a:ext cx="5198269" cy="129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1"/>
              </a:lnSpc>
            </a:pPr>
            <a:r>
              <a:rPr lang="en-US" sz="22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Banking, FinTech, digital payments, fraud detection, and enterprise authentication systems.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688548" y="2924325"/>
            <a:ext cx="2287191" cy="2287191"/>
            <a:chOff x="0" y="0"/>
            <a:chExt cx="3049588" cy="3049588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049524" cy="3049524"/>
            </a:xfrm>
            <a:custGeom>
              <a:avLst/>
              <a:gdLst/>
              <a:ahLst/>
              <a:cxnLst/>
              <a:rect l="l" t="t" r="r" b="b"/>
              <a:pathLst>
                <a:path w="3049524" h="3049524">
                  <a:moveTo>
                    <a:pt x="0" y="0"/>
                  </a:moveTo>
                  <a:lnTo>
                    <a:pt x="3049524" y="0"/>
                  </a:lnTo>
                  <a:lnTo>
                    <a:pt x="3049524" y="3049524"/>
                  </a:lnTo>
                  <a:lnTo>
                    <a:pt x="0" y="3049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755599" y="5640059"/>
            <a:ext cx="5198269" cy="40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9"/>
              </a:lnSpc>
            </a:pPr>
            <a:r>
              <a:rPr lang="en-US" sz="27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Future Scope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78333" y="6428217"/>
            <a:ext cx="5198269" cy="14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Multi-factor authentication, behavioral biometrics, geo-location analysis, cloud deployment, and mobile apps.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50238" y="956224"/>
            <a:ext cx="1648720" cy="383677"/>
            <a:chOff x="0" y="0"/>
            <a:chExt cx="2198294" cy="5115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8370" cy="511556"/>
            </a:xfrm>
            <a:custGeom>
              <a:avLst/>
              <a:gdLst/>
              <a:ahLst/>
              <a:cxnLst/>
              <a:rect l="l" t="t" r="r" b="b"/>
              <a:pathLst>
                <a:path w="2198370" h="511556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lnTo>
                    <a:pt x="2085213" y="0"/>
                  </a:lnTo>
                  <a:cubicBezTo>
                    <a:pt x="2147697" y="0"/>
                    <a:pt x="2198370" y="50673"/>
                    <a:pt x="2198370" y="113157"/>
                  </a:cubicBezTo>
                  <a:lnTo>
                    <a:pt x="2198370" y="398399"/>
                  </a:lnTo>
                  <a:cubicBezTo>
                    <a:pt x="2198370" y="460883"/>
                    <a:pt x="2147697" y="511556"/>
                    <a:pt x="2085213" y="511556"/>
                  </a:cubicBezTo>
                  <a:lnTo>
                    <a:pt x="113157" y="511556"/>
                  </a:lnTo>
                  <a:cubicBezTo>
                    <a:pt x="50673" y="511556"/>
                    <a:pt x="0" y="460883"/>
                    <a:pt x="0" y="398399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001743" y="1022452"/>
            <a:ext cx="2260102" cy="241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1554722"/>
            <a:ext cx="9445523" cy="66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 dirty="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Project Summary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50238" y="2398214"/>
            <a:ext cx="9445523" cy="905770"/>
          </a:xfrm>
          <a:custGeom>
            <a:avLst/>
            <a:gdLst/>
            <a:ahLst/>
            <a:cxnLst/>
            <a:rect l="l" t="t" r="r" b="b"/>
            <a:pathLst>
              <a:path w="9445523" h="905770">
                <a:moveTo>
                  <a:pt x="0" y="0"/>
                </a:moveTo>
                <a:lnTo>
                  <a:pt x="9445524" y="0"/>
                </a:lnTo>
                <a:lnTo>
                  <a:pt x="9445524" y="905770"/>
                </a:lnTo>
                <a:lnTo>
                  <a:pt x="0" y="905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58" b="-45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112176" y="2593477"/>
            <a:ext cx="8921648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Successfully developed an AI-powered banking login risk classification system.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7850238" y="3528860"/>
            <a:ext cx="9445523" cy="905770"/>
          </a:xfrm>
          <a:custGeom>
            <a:avLst/>
            <a:gdLst/>
            <a:ahLst/>
            <a:cxnLst/>
            <a:rect l="l" t="t" r="r" b="b"/>
            <a:pathLst>
              <a:path w="9445523" h="905770">
                <a:moveTo>
                  <a:pt x="0" y="0"/>
                </a:moveTo>
                <a:lnTo>
                  <a:pt x="9445524" y="0"/>
                </a:lnTo>
                <a:lnTo>
                  <a:pt x="9445524" y="905770"/>
                </a:lnTo>
                <a:lnTo>
                  <a:pt x="0" y="905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58" b="-45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112176" y="3724123"/>
            <a:ext cx="8921648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Integrated Flask with a trained Machine Learning model for real-time inference.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7850238" y="4659506"/>
            <a:ext cx="9445523" cy="905770"/>
          </a:xfrm>
          <a:custGeom>
            <a:avLst/>
            <a:gdLst/>
            <a:ahLst/>
            <a:cxnLst/>
            <a:rect l="l" t="t" r="r" b="b"/>
            <a:pathLst>
              <a:path w="9445523" h="905770">
                <a:moveTo>
                  <a:pt x="0" y="0"/>
                </a:moveTo>
                <a:lnTo>
                  <a:pt x="9445524" y="0"/>
                </a:lnTo>
                <a:lnTo>
                  <a:pt x="9445524" y="905771"/>
                </a:lnTo>
                <a:lnTo>
                  <a:pt x="0" y="905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58" b="-459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112176" y="4854769"/>
            <a:ext cx="8921648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Built a responsive web application for instant threat prediction.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7850238" y="5790152"/>
            <a:ext cx="9445523" cy="905770"/>
          </a:xfrm>
          <a:custGeom>
            <a:avLst/>
            <a:gdLst/>
            <a:ahLst/>
            <a:cxnLst/>
            <a:rect l="l" t="t" r="r" b="b"/>
            <a:pathLst>
              <a:path w="9445523" h="905770">
                <a:moveTo>
                  <a:pt x="0" y="0"/>
                </a:moveTo>
                <a:lnTo>
                  <a:pt x="9445524" y="0"/>
                </a:lnTo>
                <a:lnTo>
                  <a:pt x="9445524" y="905770"/>
                </a:lnTo>
                <a:lnTo>
                  <a:pt x="0" y="905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58" b="-459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112176" y="5985424"/>
            <a:ext cx="8921648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Improved banking security through intelligent, context-aware authentication.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57566" y="7505700"/>
            <a:ext cx="9445523" cy="167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55"/>
              </a:lnSpc>
            </a:pPr>
            <a:r>
              <a:rPr lang="en-US" sz="9900" dirty="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696</Words>
  <Application>Microsoft Office PowerPoint</Application>
  <PresentationFormat>Custom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Arimo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Adaptive-Risk-Based-Authentication-for-Secure-Banking-Login-Using-Machine-Learning (1).pptx</dc:title>
  <cp:lastModifiedBy>Priyanka M</cp:lastModifiedBy>
  <cp:revision>3</cp:revision>
  <dcterms:created xsi:type="dcterms:W3CDTF">2006-08-16T00:00:00Z</dcterms:created>
  <dcterms:modified xsi:type="dcterms:W3CDTF">2026-07-13T08:56:24Z</dcterms:modified>
  <dc:identifier>DAHPAJT4Uvw</dc:identifier>
</cp:coreProperties>
</file>